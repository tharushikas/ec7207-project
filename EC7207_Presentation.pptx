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Execution time (s)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Serial</c:v>
                  </c:pt>
                  <c:pt idx="1">
                    <c:v>OMP 1t</c:v>
                  </c:pt>
                  <c:pt idx="2">
                    <c:v>OMP 2t</c:v>
                  </c:pt>
                  <c:pt idx="3">
                    <c:v>OMP 4t</c:v>
                  </c:pt>
                  <c:pt idx="4">
                    <c:v>OMP 8t</c:v>
                  </c:pt>
                  <c:pt idx="5">
                    <c:v>MPI 1p</c:v>
                  </c:pt>
                  <c:pt idx="6">
                    <c:v>MPI 2p</c:v>
                  </c:pt>
                  <c:pt idx="7">
                    <c:v>MPI 4p</c:v>
                  </c:pt>
                  <c:pt idx="8">
                    <c:v>MPI 8p</c:v>
                  </c:pt>
                  <c:pt idx="9">
                    <c:v>Hyb 2×2</c:v>
                  </c:pt>
                  <c:pt idx="10">
                    <c:v>Hyb 2×4</c:v>
                  </c:pt>
                  <c:pt idx="11">
                    <c:v>Hyb 4×2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4.27</c:v>
                </c:pt>
                <c:pt idx="1">
                  <c:v>5.64</c:v>
                </c:pt>
                <c:pt idx="2">
                  <c:v>4.06</c:v>
                </c:pt>
                <c:pt idx="3">
                  <c:v>4.12</c:v>
                </c:pt>
                <c:pt idx="4">
                  <c:v>5.48</c:v>
                </c:pt>
                <c:pt idx="5">
                  <c:v>4.51</c:v>
                </c:pt>
                <c:pt idx="6">
                  <c:v>3.91</c:v>
                </c:pt>
                <c:pt idx="7">
                  <c:v>4.13</c:v>
                </c:pt>
                <c:pt idx="8">
                  <c:v>4.85</c:v>
                </c:pt>
                <c:pt idx="9">
                  <c:v>4.11</c:v>
                </c:pt>
                <c:pt idx="10">
                  <c:v>4.31</c:v>
                </c:pt>
                <c:pt idx="11">
                  <c:v>4.58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OpenMP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0.76</c:v>
                </c:pt>
                <c:pt idx="1">
                  <c:v>1.05</c:v>
                </c:pt>
                <c:pt idx="2">
                  <c:v>1.04</c:v>
                </c:pt>
                <c:pt idx="3">
                  <c:v>0.78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MPI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0.95</c:v>
                </c:pt>
                <c:pt idx="1">
                  <c:v>1.09</c:v>
                </c:pt>
                <c:pt idx="2">
                  <c:v>1.03</c:v>
                </c:pt>
                <c:pt idx="3">
                  <c:v>0.88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4</c:v>
                  </c:pt>
                  <c:pt idx="1">
                    <c:v>8</c:v>
                  </c:pt>
                  <c:pt idx="2">
                    <c:v>8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1.04</c:v>
                </c:pt>
                <c:pt idx="1">
                  <c:v>0.99</c:v>
                </c:pt>
                <c:pt idx="2">
                  <c:v>0.93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Calibri"/>
                  </a:rPr>
                  <a:t>Cores (processes × threads)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Calibri"/>
                  </a:rPr>
                  <a:t>Speedup (T_serial / T)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EC7207 — High Performance Computing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High-Performance Simulation of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Tsunami Wave Propagation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Parallel Computing Models — Serial, OpenMP, MPI, Hybrid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297680"/>
            <a:ext cx="3657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720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EG/2021/4820  SURASINGHE R.L.D.T.H.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EG/2021/4823  TAMASHA A.P.D.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EG/2021/4825  THARSHIHAN R.G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tsunami simulation is computationally hard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8521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Tsunamis are dangerous.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prediction saves lives, but high-resolution simulation is computationally expensive.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bottleneck.</a:t>
            </a:r>
            <a:endParaRPr lang="en-US" sz="18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1000×1000 ocean grid = 1 million cells, each updated every timestep across thousands of timesteps. Serial execution doesn't finish in useful time.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approach.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grid across CPU threads (OpenMP), processes (MPI), and both (Hybrid). Measure the speedup. Compare against a validated serial baseline.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44805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0" y="155448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1691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223760" y="2468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cells per timestep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3154680"/>
            <a:ext cx="44805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0" y="315468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3291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223760" y="4069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timesteps per simulation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4754880"/>
            <a:ext cx="44805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0" y="475488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48920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7223760" y="5669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implementations compared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EC7207 · Group 48 · Tsunami HPC Simulation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surrogate of the Shallow Water Equations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6858000" cy="137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Linear Wave Equation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∂²h / ∂t² = c² ⋅ ∇²h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</a:t>
            </a:r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h(x, y, t)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water surface height, and </a:t>
            </a:r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√(gH)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tsunami celerity (g = gravity, H = mean depth).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small-amplitude / constant-depth linearization of the Shallow Water Equations — the standard model for the deep-ocean phase of a tsunami, before it reaches the continental shelf.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1691640"/>
            <a:ext cx="356616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1691640"/>
            <a:ext cx="35661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REFERENCES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92440" y="228600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Pedlosky, J. (1987)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Geophysical Fluid Dynamics, 2nd ed., Springer, §3.9 — derivation of the linear wave equation as the linearization of the SWE.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LeVeque, R. J. (2002)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Volume Methods for Hyperbolic Problems, Cambridge — Ch. 13 covers SWE and its linear surrogates.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Titov &amp; Synolakis (1998)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modeling of tidal wave runup. J. Waterway/Port/Coastal/Ocean Eng., 124(4) — MOST tsunami model.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Whitham, G. B. (1974)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and Nonlinear Waves, Wiley — §1.2 derives the wave equation from conservation principles.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EC7207 · Group 48 · Tsunami HPC Simulation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Scheme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Leap-frog in time, 5-point Laplacian in space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1554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UPDATE RULE  (second-order accurate)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</a:t>
            </a:r>
            <a:pPr indent="0" marL="0">
              <a:buNone/>
            </a:pPr>
            <a:r>
              <a:rPr lang="en-US" sz="18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</a:t>
            </a:r>
            <a:pPr indent="0" marL="0">
              <a:buNone/>
            </a:pPr>
            <a:r>
              <a:rPr lang="en-US" sz="1800" b="1" baseline="3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n+1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=  2 h</a:t>
            </a:r>
            <a:pPr indent="0" marL="0">
              <a:buNone/>
            </a:pPr>
            <a:r>
              <a:rPr lang="en-US" sz="18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</a:t>
            </a:r>
            <a:pPr indent="0" marL="0">
              <a:buNone/>
            </a:pPr>
            <a:r>
              <a:rPr lang="en-US" sz="1800" b="1" baseline="3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−  h</a:t>
            </a:r>
            <a:pPr indent="0" marL="0">
              <a:buNone/>
            </a:pPr>
            <a:r>
              <a:rPr lang="en-US" sz="18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</a:t>
            </a:r>
            <a:pPr indent="0" marL="0">
              <a:buNone/>
            </a:pPr>
            <a:r>
              <a:rPr lang="en-US" sz="1800" b="1" baseline="3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n−1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+  (c⋅Δt / Δx)²  ⋅  [ h</a:t>
            </a:r>
            <a:pPr indent="0" marL="0">
              <a:buNone/>
            </a:pPr>
            <a:r>
              <a:rPr lang="en-US" sz="18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i+1,j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+  h</a:t>
            </a:r>
            <a:pPr indent="0" marL="0">
              <a:buNone/>
            </a:pPr>
            <a:r>
              <a:rPr lang="en-US" sz="18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i−1,j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+  h</a:t>
            </a:r>
            <a:pPr indent="0" marL="0">
              <a:buNone/>
            </a:pPr>
            <a:r>
              <a:rPr lang="en-US" sz="18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i,j+1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+  h</a:t>
            </a:r>
            <a:pPr indent="0" marL="0">
              <a:buNone/>
            </a:pPr>
            <a:r>
              <a:rPr lang="en-US" sz="18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i,j−1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−  4 h</a:t>
            </a:r>
            <a:pPr indent="0" marL="0">
              <a:buNone/>
            </a:pPr>
            <a:r>
              <a:rPr lang="en-US" sz="1800" b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i,j</a:t>
            </a:r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611880"/>
            <a:ext cx="3383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611880"/>
            <a:ext cx="33832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in both space and time: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O(Δt² + Δx²)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differences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3611880"/>
            <a:ext cx="3383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3611880"/>
            <a:ext cx="33832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 (CFL)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42976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c⋅Δt / Δx  ≤  1/√2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≈  0.707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value: 0.50  ✓ stable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Courant, Friedrichs, Lewy (1928)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3611880"/>
            <a:ext cx="3383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3611880"/>
            <a:ext cx="33832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0" y="42976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Strikwerda (2004) Ch. 12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LeVeque (2007) §10.2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et al., Numerical Recipes §20.1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Courant–Friedrichs–Lewy (1928) — original CFL paper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since 1928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EC7207 · Group 48 · Tsunami HPC Simulation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Parallel Implementations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equation. Same wave. Different hardware utilization.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50317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250317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2137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Single-core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213741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nested loop over the 2D grid. Reflective boundaries. Used as the ground-truth reference for accuracy.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63290" y="1691640"/>
            <a:ext cx="250317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63290" y="1691640"/>
            <a:ext cx="250317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6170" y="182880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OpenMP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46170" y="2240280"/>
            <a:ext cx="2137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threads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46170" y="2788920"/>
            <a:ext cx="213741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#pragma omp parallel for collapse(2) across the y/x loops. Thread count varied from 1 to 8.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5060" y="1691640"/>
            <a:ext cx="250317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5060" y="1691640"/>
            <a:ext cx="250317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7940" y="182880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77940" y="2240280"/>
            <a:ext cx="2137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77940" y="2788920"/>
            <a:ext cx="213741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split into horizontal slices. Each process exchanges halo rows with its neighbours using MPI_Isend / MPI_Irecv (non-blocking).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26830" y="1691640"/>
            <a:ext cx="250317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26830" y="1691640"/>
            <a:ext cx="250317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09710" y="1828800"/>
            <a:ext cx="213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09710" y="2240280"/>
            <a:ext cx="21374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+ OpenMP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09710" y="2788920"/>
            <a:ext cx="213741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ranks distribute grid slices across processes; OpenMP threads parallelize within each rank. Two-level parallelism.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EC7207 · Group 48 · Tsunami HPC Simulation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Execution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implementation is compiled and launched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  <a:gridCol w="37490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g++ -O3 -o tsunami_serial tsunami_serial.cpp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./tsunami_serial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g++ -O3 -fopenmp -o tsunami_omp tsunami_omp.cpp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./tsunami_omp &lt;N_threads&gt;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mpic++ -O3 -o tsunami_mpi tsunami_mpi.cpp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mpiexec -n &lt;N_procs&gt; ./tsunami_mpi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mpic++ -O3 -fopenmp -o tsunami_hybrid tsunami_hybrid.cpp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mpiexec -n &lt;P&gt; ./tsunami_hybrid &lt;T&gt;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5120640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5212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we used for benchmarking.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1000×1000, 2000 timesteps, Δt = 0.0005, c = 1.0, Courant = 0.50 (stable).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 4-physical-core x86 CPU (8 logical with hyperthreading) under WSL2 / Ubuntu / OpenMPI 4.1.6 / GCC 13.3.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EC7207 · Group 48 · Tsunami HPC Simulation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Compile. Run. Visualise.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914400" y="3749040"/>
            <a:ext cx="3657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02336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all four implementations side-by-side.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— observe execution time printed live.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 — wave animation + full scaling study.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Execution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wall-clock seconds, N = 1000, 2000 timesteps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691640"/>
          <a:ext cx="7772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778240" y="1691640"/>
            <a:ext cx="265176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78240" y="1691640"/>
            <a:ext cx="26517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154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READINGS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006840" y="2286000"/>
            <a:ext cx="2286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Serial:  4.27 s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1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2p:  3.91 s</a:t>
            </a:r>
            <a:endParaRPr lang="en-US" sz="11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Speedup:  1.09×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parallel times cluster near 4 s.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thread already saturates memory bandwidth — adding cores cannot make memory go faster (Roofline ceiling).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EC7207 · Group 48 · Tsunami HPC Simulation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Scaling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and parallel efficiency vs. number of cores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691640"/>
          <a:ext cx="68580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691640"/>
            <a:ext cx="356616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0" y="1691640"/>
            <a:ext cx="35661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CURVES TELL US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92440" y="2286000"/>
            <a:ext cx="3200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Roofline ceiling.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curves cluster near 1× — a single thread already saturates this CPU's memory bandwidth at N = 1000.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 MPI 2p.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1.09× — best result. Separate memory spaces avoid OpenMP's cache-coherence traffic, but cannot exceed the bandwidth ceiling.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overhead visible.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OMP-1 (0.76×) is slower than serial — pure runtime overhead with no parallelism to amortize it.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Hyperthreading regression.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8-thread / 8-process cases regress — hyperthreads share FP units in this stencil-heavy workload.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EC7207 · Group 48 · Tsunami HPC Simulation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Honest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don't show, and what we'd do differently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101727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91440" cy="101727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83080"/>
            <a:ext cx="384048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Memory-bandwidth ceiling (dominant)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612648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Stencil reads ~40 B/cell, performs ~5 FLOPs → arithmetic intensity ≈ 0.1 FLOP/B. A single thread already saturates ~20 GB/s of memory bandwidth, so multi-threading cannot accelerate data movement. Roofline confirms this is the hardware limit.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891790"/>
            <a:ext cx="10698480" cy="101727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891790"/>
            <a:ext cx="91440" cy="101727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83230"/>
            <a:ext cx="384048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Hyperthreading hurts FP-bound code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983230"/>
            <a:ext cx="612648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hyperthreads share one core's floating-point unit. 8-thread / 8-process configurations all regress below their 4-core counterparts — confirmed across every implementation in our sweep.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091940"/>
            <a:ext cx="10698480" cy="101727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091940"/>
            <a:ext cx="91440" cy="101727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183380"/>
            <a:ext cx="384048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Single-node measurement only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4183380"/>
            <a:ext cx="612648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ran on one 4-physical-core CPU under WSL2. MPI's true strength — distributing across multiple machines over a network — is not exercised. On a real cluster MPI and Hybrid would scale substantially further before hitting their ceilings.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292090"/>
            <a:ext cx="10698480" cy="101727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292090"/>
            <a:ext cx="91440" cy="101727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383530"/>
            <a:ext cx="384048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cache-blocking optimization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5383530"/>
            <a:ext cx="6126480" cy="834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through the Roofline ceiling requires increasing arithmetic intensity via temporal cache-blocking (compute multiple timesteps per data load). Identified as the next step.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EC7207 · Group 48 · Tsunami HPC Simulation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394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3949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54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benchmarked four versions of a 2D wave-equation solver:  Serial, OpenMP, MPI, Hybrid.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all parallel implementations against the serial baseline — wave output is bit-identical to floating-point round-off.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execution time across 12 thread/process configurations, computed speedup and parallel efficiency.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Streamlit dashboard for visualisation and reproducible reporting.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observed: MPI with 2 processes — 1.09× speedup. The flat scaling reveals the Roofline ceiling: a single thread already saturates memory bandwidth.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12064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OpenMP parallel region outside the time loop to amortize fork-join overhead.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SIMD vectorization (#pragma omp simd on the inner x-loop) and cache blocking.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processes with taskset / numactl to remove scheduler noise; report 3-run medians.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study to a multi-node cluster to measure true MPI-over-network behaviour.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the full nonlinear Shallow Water Equations with bathymetry and runup.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EC7207 · Group 48 · Tsunami HPC Simulation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92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10332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Courant, R., Friedrichs, K., Lewy, H. (1928). 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die partiellen Differenzengleichungen der mathematischen Physik.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 Ann. 100, 32–74.   (Original CFL stability paper.)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Whitham, G. B. (1974). 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and Nonlinear Waves.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Pedlosky, J. (1987). 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Geophysical Fluid Dynamics, 2nd ed.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Titov, V. V. &amp; Synolakis, C. E. (1998). Numerical modeling of tidal wave runup.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Waterway, Port, Coastal &amp; Ocean Eng. 124(4), 157–171.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LeVeque, R. J. (2002). 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Volume Methods for Hyperbolic Problems.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Strikwerda, J. C. (2004). 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Difference Schemes and Partial Differential Equations, 2nd ed.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Hager, G. &amp; Wellein, G. (2010). 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High Performance Computing for Scientists and Engineers.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Press.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EC7207 · Group 48 — Surasinghe · Tamasha · Tharshihan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EC7207 Group 48 — Tsunami HPC</dc:title>
  <dc:subject>PptxGenJS Presentation</dc:subject>
  <dc:creator>Group 48 (Surasinghe, Tamasha, Tharshihan)</dc:creator>
  <cp:lastModifiedBy>Group 48 (Surasinghe, Tamasha, Tharshihan)</cp:lastModifiedBy>
  <cp:revision>1</cp:revision>
  <dcterms:created xsi:type="dcterms:W3CDTF">2026-05-21T12:36:47Z</dcterms:created>
  <dcterms:modified xsi:type="dcterms:W3CDTF">2026-05-21T12:36:47Z</dcterms:modified>
</cp:coreProperties>
</file>